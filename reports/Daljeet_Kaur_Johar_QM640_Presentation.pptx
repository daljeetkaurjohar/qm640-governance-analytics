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Raleway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416" autoAdjust="0"/>
  </p:normalViewPr>
  <p:slideViewPr>
    <p:cSldViewPr snapToGrid="0">
      <p:cViewPr varScale="1">
        <p:scale>
          <a:sx n="78" d="100"/>
          <a:sy n="78" d="100"/>
        </p:scale>
        <p:origin x="940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b453ca69b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4" name="Google Shape;84;g37b453ca69b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b453ca6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0" name="Google Shape;90;g37b453ca6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b453ca69b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6" name="Google Shape;96;g37b453ca69b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b453ca69b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2" name="Google Shape;102;g37b453ca69b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b453ca69b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8" name="Google Shape;108;g37b453ca69b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b453ca69b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14" name="Google Shape;114;g37b453ca69b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b453ca69b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0" name="Google Shape;120;g37b453ca69b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b453ca69b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6" name="Google Shape;126;g37b453ca69b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b453ca69b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32" name="Google Shape;132;g37b453ca69b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b453ca69b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38" name="Google Shape;138;g37b453ca69b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b453ca69b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44" name="Google Shape;144;g37b453ca69b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Oval 87"/>
          <p:cNvSpPr/>
          <p:nvPr/>
        </p:nvSpPr>
        <p:spPr>
          <a:xfrm>
            <a:off x="6903720" y="-822960"/>
            <a:ext cx="3291840" cy="3291840"/>
          </a:xfrm>
          <a:prstGeom prst="ellipse">
            <a:avLst/>
          </a:prstGeom>
          <a:solidFill>
            <a:srgbClr val="D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7452360" y="3246120"/>
            <a:ext cx="2377440" cy="2377440"/>
          </a:xfrm>
          <a:prstGeom prst="ellipse">
            <a:avLst/>
          </a:prstGeom>
          <a:solidFill>
            <a:srgbClr val="D9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8092440" y="320040"/>
            <a:ext cx="1234440" cy="1234440"/>
          </a:xfrm>
          <a:prstGeom prst="ellipse">
            <a:avLst/>
          </a:prstGeom>
          <a:solidFill>
            <a:srgbClr val="EB5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7818120" y="3977639"/>
            <a:ext cx="777240" cy="777240"/>
          </a:xfrm>
          <a:prstGeom prst="ellipse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49"/>
            <a:ext cx="8239290" cy="19390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218181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Data-Driven Quality and Risk Analytics: Governance-Relevant Change in the AI-Coding Era and PCAOB Audit Risk Data</a:t>
            </a:r>
            <a:endParaRPr sz="23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450" y="3836809"/>
            <a:ext cx="8102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Name: </a:t>
            </a:r>
            <a: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  <a:t>Daljeet Kaur Johar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Mentor’s Name</a:t>
            </a:r>
            <a: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  <a:t>: Smitraj Raut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E5F37E-6306-49B7-EDF4-A6175254377F}"/>
              </a:ext>
            </a:extLst>
          </p:cNvPr>
          <p:cNvSpPr txBox="1"/>
          <p:nvPr/>
        </p:nvSpPr>
        <p:spPr>
          <a:xfrm>
            <a:off x="729450" y="3150244"/>
            <a:ext cx="509905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300" b="1" dirty="0"/>
              <a:t>Final Presentation</a:t>
            </a:r>
            <a:endParaRPr 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Executive Summary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457200" y="1874519"/>
            <a:ext cx="3954780" cy="960120"/>
          </a:xfrm>
          <a:prstGeom prst="roundRect">
            <a:avLst>
              <a:gd name="adj" fmla="val 8000"/>
            </a:avLst>
          </a:prstGeom>
          <a:solidFill>
            <a:srgbClr val="D9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557784" y="2002536"/>
            <a:ext cx="384048" cy="384048"/>
          </a:xfrm>
          <a:prstGeom prst="ellipse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24128" y="1984248"/>
            <a:ext cx="3278124" cy="740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Objective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Test whether AI-era coding adoption and the PCAOB's new inspection data have changed two established governance practices: software defect prediction and internal-control-weakness modeling.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732020" y="1874519"/>
            <a:ext cx="3954780" cy="960120"/>
          </a:xfrm>
          <a:prstGeom prst="roundRect">
            <a:avLst>
              <a:gd name="adj" fmla="val 8000"/>
            </a:avLst>
          </a:prstGeom>
          <a:solidFill>
            <a:srgbClr val="D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4832604" y="2002536"/>
            <a:ext cx="384048" cy="384048"/>
          </a:xfrm>
          <a:prstGeom prst="ellipse">
            <a:avLst/>
          </a:prstGeom>
          <a:solidFill>
            <a:srgbClr val="1C3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298948" y="1984248"/>
            <a:ext cx="3278124" cy="740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Why It Matters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Both practices rest on evidence that predates 2023 (AI coding) or 2018 (audit data). QA and audit teams risk misallocating review effort if these old assumptions no longer hold.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57200" y="3017520"/>
            <a:ext cx="8229600" cy="621792"/>
          </a:xfrm>
          <a:prstGeom prst="roundRect">
            <a:avLst>
              <a:gd name="adj" fmla="val 12000"/>
            </a:avLst>
          </a:prstGeom>
          <a:solidFill>
            <a:srgbClr val="1C3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566928" y="3017520"/>
            <a:ext cx="1837943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30,733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A2FFE8"/>
                </a:solidFill>
                <a:latin typeface="Calibri"/>
              </a:rPr>
              <a:t>JIRA issues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624328" y="3017520"/>
            <a:ext cx="1837943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19,464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A2FFE8"/>
                </a:solidFill>
                <a:latin typeface="Calibri"/>
              </a:rPr>
              <a:t>mined code samples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681728" y="3017520"/>
            <a:ext cx="1837943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17,077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A2FFE8"/>
                </a:solidFill>
                <a:latin typeface="Calibri"/>
              </a:rPr>
              <a:t>PCAOB records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739128" y="3017520"/>
            <a:ext cx="1837943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113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A2FFE8"/>
                </a:solidFill>
                <a:latin typeface="Calibri"/>
              </a:rPr>
              <a:t>SEC EDGAR disclosures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57200" y="3822191"/>
            <a:ext cx="3954780" cy="960120"/>
          </a:xfrm>
          <a:prstGeom prst="roundRect">
            <a:avLst>
              <a:gd name="adj" fmla="val 8000"/>
            </a:avLst>
          </a:prstGeom>
          <a:solidFill>
            <a:srgbClr val="FC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557784" y="3950207"/>
            <a:ext cx="384048" cy="384048"/>
          </a:xfrm>
          <a:prstGeom prst="ellipse">
            <a:avLst/>
          </a:prstGeom>
          <a:solidFill>
            <a:srgbClr val="EB5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24128" y="3931920"/>
            <a:ext cx="3278124" cy="740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Results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Mostly negligible AI-era effects in QA across four Apache projects; a strong PCAOB severity model (96.46% accuracy, beating both baseline and Random Forest); cross-domain comparison inconclusive.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732020" y="3822191"/>
            <a:ext cx="3954780" cy="960120"/>
          </a:xfrm>
          <a:prstGeom prst="roundRect">
            <a:avLst>
              <a:gd name="adj" fmla="val 8000"/>
            </a:avLst>
          </a:prstGeom>
          <a:solidFill>
            <a:srgbClr val="D9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4832604" y="3950207"/>
            <a:ext cx="384048" cy="384048"/>
          </a:xfrm>
          <a:prstGeom prst="ellipse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298948" y="3931920"/>
            <a:ext cx="3278124" cy="740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Usage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Decision-support scoring tools: a defect-proneness check for QA code review, and a PCAOB-style severity dashboard for audit engagement triage, both deployable on a rolling basis.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Gap Analysis</a:t>
            </a:r>
            <a:endParaRPr/>
          </a:p>
        </p:txBody>
      </p:sp>
      <p:pic>
        <p:nvPicPr>
          <p:cNvPr id="100" name="Picture 99" descr="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96" y="1486462"/>
            <a:ext cx="8509609" cy="2244617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457200" y="4041648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FC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85800" y="4041648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 dirty="0">
                <a:solidFill>
                  <a:srgbClr val="EB5600"/>
                </a:solidFill>
                <a:latin typeface="Calibri"/>
              </a:rPr>
              <a:t>The gap: </a:t>
            </a:r>
            <a:r>
              <a:rPr sz="1200" b="0" i="0" dirty="0">
                <a:solidFill>
                  <a:srgbClr val="1A1A1A"/>
                </a:solidFill>
                <a:latin typeface="Calibri"/>
              </a:rPr>
              <a:t>organizations run both QA review and IT audit on the same AI-assisted, currently-regulated systems, yet no prior study tests both together, on current data. Prior defect-prediction work predates 2023; the most recent internal-control study (</a:t>
            </a:r>
            <a:r>
              <a:rPr sz="1200" b="0" i="0" dirty="0" err="1">
                <a:solidFill>
                  <a:srgbClr val="1A1A1A"/>
                </a:solidFill>
                <a:latin typeface="Calibri"/>
              </a:rPr>
              <a:t>Mojtahedi</a:t>
            </a:r>
            <a:r>
              <a:rPr sz="1200" b="0" i="0" dirty="0">
                <a:solidFill>
                  <a:srgbClr val="1A1A1A"/>
                </a:solidFill>
                <a:latin typeface="Calibri"/>
              </a:rPr>
              <a:t> &amp; Zhou, 2024) used non-ML methods on data through 2018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Questions</a:t>
            </a:r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457200" y="1874519"/>
            <a:ext cx="8229600" cy="566928"/>
          </a:xfrm>
          <a:prstGeom prst="roundRect">
            <a:avLst>
              <a:gd name="adj" fmla="val 16000"/>
            </a:avLst>
          </a:prstGeom>
          <a:solidFill>
            <a:srgbClr val="D9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612647" y="1929384"/>
            <a:ext cx="457200" cy="457200"/>
          </a:xfrm>
          <a:prstGeom prst="ellipse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234440" y="1929384"/>
            <a:ext cx="5806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Code-metric × era effect on defect-proneness?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595959"/>
                </a:solidFill>
                <a:latin typeface="Calibri"/>
              </a:rPr>
              <a:t>Joint LR test, 4 projects (N=19,464) → sig. in Camel/Hadoop only, all effects negligible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223760" y="2011679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223760" y="2011679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595959"/>
                </a:solidFill>
                <a:latin typeface="Calibri"/>
              </a:rPr>
              <a:t>Negligible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57200" y="2487168"/>
            <a:ext cx="8229600" cy="566928"/>
          </a:xfrm>
          <a:prstGeom prst="roundRect">
            <a:avLst>
              <a:gd name="adj" fmla="val 16000"/>
            </a:avLst>
          </a:prstGeom>
          <a:solidFill>
            <a:srgbClr val="D9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612647" y="2542032"/>
            <a:ext cx="457200" cy="457200"/>
          </a:xfrm>
          <a:prstGeom prst="ellipse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34440" y="2542032"/>
            <a:ext cx="5806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Issue-characteristic × era effect on resolution time?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595959"/>
                </a:solidFill>
                <a:latin typeface="Calibri"/>
              </a:rPr>
              <a:t>Moderated OLS, full JIRA sample (N=30,733) → significant but negligible (f²=0.0011)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223760" y="2624327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7223760" y="2624327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595959"/>
                </a:solidFill>
                <a:latin typeface="Calibri"/>
              </a:rPr>
              <a:t>Negligible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57200" y="3099815"/>
            <a:ext cx="8229600" cy="566928"/>
          </a:xfrm>
          <a:prstGeom prst="roundRect">
            <a:avLst>
              <a:gd name="adj" fmla="val 16000"/>
            </a:avLst>
          </a:prstGeom>
          <a:solidFill>
            <a:srgbClr val="D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612647" y="3154679"/>
            <a:ext cx="457200" cy="457200"/>
          </a:xfrm>
          <a:prstGeom prst="ellipse">
            <a:avLst/>
          </a:prstGeom>
          <a:solidFill>
            <a:srgbClr val="1C3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RQ3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234440" y="3154679"/>
            <a:ext cx="5806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Can ML predict PCAOB severity (Part I.A vs. I.B)?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595959"/>
                </a:solidFill>
                <a:latin typeface="Calibri"/>
              </a:rPr>
              <a:t>LogReg vs. Random Forest (N=17,077) → 96.46% accuracy vs. 82.23% baseline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7223760" y="3236975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9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223760" y="3236975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A9988"/>
                </a:solidFill>
                <a:latin typeface="Calibri"/>
              </a:rPr>
              <a:t>Strong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57200" y="3712464"/>
            <a:ext cx="8229600" cy="566928"/>
          </a:xfrm>
          <a:prstGeom prst="roundRect">
            <a:avLst>
              <a:gd name="adj" fmla="val 16000"/>
            </a:avLst>
          </a:prstGeom>
          <a:solidFill>
            <a:srgbClr val="D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612647" y="3767328"/>
            <a:ext cx="457200" cy="457200"/>
          </a:xfrm>
          <a:prstGeom prst="ellipse">
            <a:avLst/>
          </a:prstGeom>
          <a:solidFill>
            <a:srgbClr val="1C3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RQ4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34440" y="3767328"/>
            <a:ext cx="5806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Do models identify remediation-time drivers?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595959"/>
                </a:solidFill>
                <a:latin typeface="Calibri"/>
              </a:rPr>
              <a:t>Cox PH + OLS check (N=113) → no individual driver significant, concordance=0.604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7223760" y="3849624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B5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7223760" y="3849624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EB5600"/>
                </a:solidFill>
                <a:latin typeface="Calibri"/>
              </a:rPr>
              <a:t>Modest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57200" y="4325112"/>
            <a:ext cx="8229600" cy="566928"/>
          </a:xfrm>
          <a:prstGeom prst="roundRect">
            <a:avLst>
              <a:gd name="adj" fmla="val 16000"/>
            </a:avLst>
          </a:prstGeom>
          <a:solidFill>
            <a:srgbClr val="FC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612647" y="4379976"/>
            <a:ext cx="457200" cy="457200"/>
          </a:xfrm>
          <a:prstGeom prst="ellipse">
            <a:avLst/>
          </a:prstGeom>
          <a:solidFill>
            <a:srgbClr val="EB5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RQ5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234440" y="4379976"/>
            <a:ext cx="5806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Is QA-domain change comparable to audit-domain change?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595959"/>
                </a:solidFill>
                <a:latin typeface="Calibri"/>
              </a:rPr>
              <a:t>Cohen's f² + 1,000-resample bootstrap → only 43.5% of resamples support equivalence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223760" y="446227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B5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223760" y="4462272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EB5600"/>
                </a:solidFill>
                <a:latin typeface="Calibri"/>
              </a:rPr>
              <a:t>Inconclusive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Description and EDA</a:t>
            </a:r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457200" y="1965960"/>
            <a:ext cx="1851660" cy="1417320"/>
          </a:xfrm>
          <a:prstGeom prst="roundRect">
            <a:avLst>
              <a:gd name="adj" fmla="val 10000"/>
            </a:avLst>
          </a:prstGeom>
          <a:solidFill>
            <a:srgbClr val="D9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48640" y="2130552"/>
            <a:ext cx="1668780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A9988"/>
                </a:solidFill>
                <a:latin typeface="Calibri"/>
              </a:rPr>
              <a:t>30,733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1A1A1A"/>
                </a:solidFill>
                <a:latin typeface="Calibri"/>
              </a:rPr>
              <a:t>Apache JIRA issues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Camel + Hadoop, 2005–2026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583179" y="1965960"/>
            <a:ext cx="1851660" cy="1417320"/>
          </a:xfrm>
          <a:prstGeom prst="roundRect">
            <a:avLst>
              <a:gd name="adj" fmla="val 10000"/>
            </a:avLst>
          </a:prstGeom>
          <a:solidFill>
            <a:srgbClr val="D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2674620" y="2130552"/>
            <a:ext cx="1668780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C3678"/>
                </a:solidFill>
                <a:latin typeface="Calibri"/>
              </a:rPr>
              <a:t>19,464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1A1A1A"/>
                </a:solidFill>
                <a:latin typeface="Calibri"/>
              </a:rPr>
              <a:t>mined code samples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4 independent Apache projects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709159" y="1965960"/>
            <a:ext cx="1851660" cy="1417320"/>
          </a:xfrm>
          <a:prstGeom prst="roundRect">
            <a:avLst>
              <a:gd name="adj" fmla="val 10000"/>
            </a:avLst>
          </a:prstGeom>
          <a:solidFill>
            <a:srgbClr val="D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4800599" y="2130552"/>
            <a:ext cx="1668780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C3678"/>
                </a:solidFill>
                <a:latin typeface="Calibri"/>
              </a:rPr>
              <a:t>17,077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1A1A1A"/>
                </a:solidFill>
                <a:latin typeface="Calibri"/>
              </a:rPr>
              <a:t>PCAOB deficiency records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14,043 Part I.A / 3,034 Part I.B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835140" y="1965960"/>
            <a:ext cx="1851660" cy="1417320"/>
          </a:xfrm>
          <a:prstGeom prst="roundRect">
            <a:avLst>
              <a:gd name="adj" fmla="val 10000"/>
            </a:avLst>
          </a:prstGeom>
          <a:solidFill>
            <a:srgbClr val="FC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926579" y="2130552"/>
            <a:ext cx="1668780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EB5600"/>
                </a:solidFill>
                <a:latin typeface="Calibri"/>
              </a:rPr>
              <a:t>113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1A1A1A"/>
                </a:solidFill>
                <a:latin typeface="Calibri"/>
              </a:rPr>
              <a:t>SEC EDGAR disclosures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61 remediated / 52 right-censored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57200" y="3584448"/>
            <a:ext cx="8229600" cy="868680"/>
          </a:xfrm>
          <a:prstGeom prst="roundRect">
            <a:avLst>
              <a:gd name="adj" fmla="val 10000"/>
            </a:avLst>
          </a:prstGeom>
          <a:solidFill>
            <a:srgbClr val="E9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85800" y="3712464"/>
            <a:ext cx="3840480" cy="612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Calibri"/>
              </a:rPr>
              <a:t>Multicollinearity: </a:t>
            </a:r>
            <a:r>
              <a:rPr sz="1000" b="0" i="0">
                <a:solidFill>
                  <a:srgbClr val="595959"/>
                </a:solidFill>
                <a:latin typeface="Calibri"/>
              </a:rPr>
              <a:t>RQ1's four code metrics are severely collinear (VIF ≈10–165), so individual coefficients aren't trustworthy — a joint test carries the analytical weight instead.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846320" y="3712464"/>
            <a:ext cx="3840480" cy="612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Calibri"/>
              </a:rPr>
              <a:t>Censoring &amp; imbalance: </a:t>
            </a:r>
            <a:r>
              <a:rPr sz="1000" b="0" i="0">
                <a:solidFill>
                  <a:srgbClr val="595959"/>
                </a:solidFill>
                <a:latin typeface="Calibri"/>
              </a:rPr>
              <a:t>46% of RQ4 companies were still unremediated (right-censored), driving the choice of a Cox model; class imbalance elsewhere was handled via weighting, not oversampling.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diagram/Workflow</a:t>
            </a:r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729450" y="3886200"/>
            <a:ext cx="7688700" cy="11887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" sz="1200"/>
              <a:t>Four independent data sources, each feeding its own model family — JIRA and git mining into RQ1/RQ2, PCAOB into RQ3, SEC EDGAR into RQ4.</a:t>
            </a:r>
            <a:endParaRPr sz="120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" sz="1200"/>
              <a:t>Shared preprocessing/EDA per domain handles class-weighting and right-censoring explicitly.</a:t>
            </a:r>
            <a:endParaRPr sz="12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1200"/>
              <a:t>RQ5 synthesis reuses the RQ1/RQ2 and RQ4 outputs for cross-domain comparison; RQ3 deploys standalone.</a:t>
            </a:r>
            <a:endParaRPr sz="1200"/>
          </a:p>
        </p:txBody>
      </p:sp>
      <p:pic>
        <p:nvPicPr>
          <p:cNvPr id="118" name="Picture 117" descr="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751" y="1783080"/>
            <a:ext cx="5568496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building</a:t>
            </a:r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789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124" name="Rounded Rectangle 123"/>
          <p:cNvSpPr/>
          <p:nvPr/>
        </p:nvSpPr>
        <p:spPr>
          <a:xfrm>
            <a:off x="457200" y="1920240"/>
            <a:ext cx="8229600" cy="640080"/>
          </a:xfrm>
          <a:prstGeom prst="roundRect">
            <a:avLst>
              <a:gd name="adj" fmla="val 12000"/>
            </a:avLst>
          </a:prstGeom>
          <a:solidFill>
            <a:srgbClr val="D9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649224" y="1975104"/>
            <a:ext cx="530352" cy="530352"/>
          </a:xfrm>
          <a:prstGeom prst="ellipse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RQ1/3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234440" y="1993392"/>
            <a:ext cx="7223760" cy="493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Logistic Regression vs. Random Forest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80" b="0" i="0">
                <a:solidFill>
                  <a:srgbClr val="595959"/>
                </a:solidFill>
                <a:latin typeface="Calibri"/>
              </a:rPr>
              <a:t>Interpretable coefficients, benchmarked against an ensemble; RQ1 adds a joint LR test since code-size metrics are severely collinear (VIF≈10–165).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57200" y="2606040"/>
            <a:ext cx="8229600" cy="640080"/>
          </a:xfrm>
          <a:prstGeom prst="roundRect">
            <a:avLst>
              <a:gd name="adj" fmla="val 12000"/>
            </a:avLst>
          </a:prstGeom>
          <a:solidFill>
            <a:srgbClr val="D9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649224" y="2660904"/>
            <a:ext cx="530352" cy="530352"/>
          </a:xfrm>
          <a:prstGeom prst="ellipse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234440" y="2679192"/>
            <a:ext cx="7223760" cy="493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Moderated OLS with era-interaction terms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80" b="0" i="0">
                <a:solidFill>
                  <a:srgbClr val="595959"/>
                </a:solidFill>
                <a:latin typeface="Calibri"/>
              </a:rPr>
              <a:t>Resolution time is heavily right-skewed, so 3 robustness checks were added: log-outcome, Gamma GLM, and a binary specification.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457200" y="3291840"/>
            <a:ext cx="8229600" cy="640080"/>
          </a:xfrm>
          <a:prstGeom prst="roundRect">
            <a:avLst>
              <a:gd name="adj" fmla="val 12000"/>
            </a:avLst>
          </a:prstGeom>
          <a:solidFill>
            <a:srgbClr val="D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649224" y="3346704"/>
            <a:ext cx="530352" cy="530352"/>
          </a:xfrm>
          <a:prstGeom prst="ellipse">
            <a:avLst/>
          </a:prstGeom>
          <a:solidFill>
            <a:srgbClr val="1C3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RQ4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234440" y="3364992"/>
            <a:ext cx="7223760" cy="493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Cox Proportional Hazards (primary) + OLS check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80" b="0" i="0">
                <a:solidFill>
                  <a:srgbClr val="595959"/>
                </a:solidFill>
                <a:latin typeface="Calibri"/>
              </a:rPr>
              <a:t>Cox correctly handles the 46% right-censoring rate in the remediation data; OLS on the 61 observed cases only is a disclosed sensitivity check.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57200" y="3977639"/>
            <a:ext cx="8229600" cy="640080"/>
          </a:xfrm>
          <a:prstGeom prst="roundRect">
            <a:avLst>
              <a:gd name="adj" fmla="val 12000"/>
            </a:avLst>
          </a:prstGeom>
          <a:solidFill>
            <a:srgbClr val="FC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649224" y="4032503"/>
            <a:ext cx="530352" cy="530352"/>
          </a:xfrm>
          <a:prstGeom prst="ellipse">
            <a:avLst/>
          </a:prstGeom>
          <a:solidFill>
            <a:srgbClr val="EB5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RQ5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234440" y="4050791"/>
            <a:ext cx="7223760" cy="493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Cohen's f² synthesis + 1,000-resample bootstrap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80" b="0" i="0">
                <a:solidFill>
                  <a:srgbClr val="595959"/>
                </a:solidFill>
                <a:latin typeface="Calibri"/>
              </a:rPr>
              <a:t>Standardizes the QA and audit effect sizes for comparison, then stress-tests the point estimate with real resampling uncertainty.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457200" y="4700016"/>
            <a:ext cx="8229600" cy="384048"/>
          </a:xfrm>
          <a:prstGeom prst="roundRect">
            <a:avLst>
              <a:gd name="adj" fmla="val 50000"/>
            </a:avLst>
          </a:prstGeom>
          <a:solidFill>
            <a:srgbClr val="E9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85800" y="4700016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A1A1A"/>
                </a:solidFill>
                <a:latin typeface="Calibri"/>
              </a:rPr>
              <a:t>Why: </a:t>
            </a:r>
            <a:r>
              <a:rPr sz="1050" b="0" i="0">
                <a:solidFill>
                  <a:srgbClr val="595959"/>
                </a:solidFill>
                <a:latin typeface="Calibri"/>
              </a:rPr>
              <a:t>each model family was matched to the data's structure — censoring, collinearity, and skew each drove a specific choice.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body" idx="1"/>
          </p:nvPr>
        </p:nvSpPr>
        <p:spPr>
          <a:xfrm>
            <a:off x="729450" y="3886200"/>
            <a:ext cx="7688700" cy="10515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spcBef>
                <a:spcPts val="0"/>
              </a:spcBef>
              <a:spcAft>
                <a:spcPts val="250"/>
              </a:spcAft>
            </a:pPr>
            <a:r>
              <a:rPr lang="en" sz="1150"/>
              <a:t>All RQ1 effect sizes are negligible regardless of significance — even Camel/Hadoop's real effect is too small to matter.</a:t>
            </a:r>
            <a:endParaRPr sz="115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1150"/>
              <a:t>RQ3’s Logistic Regression is both the most accurate AND most interpretable severity model — confirmed significant over Random Forest by McNemar’s test.</a:t>
            </a:r>
            <a:endParaRPr sz="1150"/>
          </a:p>
        </p:txBody>
      </p:sp>
      <p:pic>
        <p:nvPicPr>
          <p:cNvPr id="130" name="Picture 129" descr="chart_rq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13" y="1783080"/>
            <a:ext cx="3592493" cy="2011680"/>
          </a:xfrm>
          <a:prstGeom prst="rect">
            <a:avLst/>
          </a:prstGeom>
        </p:spPr>
      </p:pic>
      <p:pic>
        <p:nvPicPr>
          <p:cNvPr id="131" name="Picture 130" descr="chart_rq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840" y="1783080"/>
            <a:ext cx="27940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and User Benefit</a:t>
            </a:r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136" name="Rounded Rectangle 135"/>
          <p:cNvSpPr/>
          <p:nvPr/>
        </p:nvSpPr>
        <p:spPr>
          <a:xfrm>
            <a:off x="457200" y="1938528"/>
            <a:ext cx="3977639" cy="2331720"/>
          </a:xfrm>
          <a:prstGeom prst="roundRect">
            <a:avLst>
              <a:gd name="adj" fmla="val 6000"/>
            </a:avLst>
          </a:prstGeom>
          <a:solidFill>
            <a:srgbClr val="D9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731520" y="2121408"/>
            <a:ext cx="3428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9988"/>
                </a:solidFill>
                <a:latin typeface="Calibri"/>
              </a:rPr>
              <a:t>For QA Teams</a:t>
            </a:r>
          </a:p>
        </p:txBody>
      </p:sp>
      <p:sp>
        <p:nvSpPr>
          <p:cNvPr id="138" name="Oval 137"/>
          <p:cNvSpPr/>
          <p:nvPr/>
        </p:nvSpPr>
        <p:spPr>
          <a:xfrm>
            <a:off x="603504" y="2624328"/>
            <a:ext cx="292608" cy="292608"/>
          </a:xfrm>
          <a:prstGeom prst="ellipse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87552" y="2624328"/>
            <a:ext cx="320039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Review allocation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Calibri"/>
              </a:rPr>
              <a:t>Defect-proneness scoring surfaced as a pull-request check in the CI/CD pipeline, so reviewers see risk before merging.</a:t>
            </a:r>
          </a:p>
        </p:txBody>
      </p:sp>
      <p:sp>
        <p:nvSpPr>
          <p:cNvPr id="140" name="Oval 139"/>
          <p:cNvSpPr/>
          <p:nvPr/>
        </p:nvSpPr>
        <p:spPr>
          <a:xfrm>
            <a:off x="603504" y="3447288"/>
            <a:ext cx="292608" cy="292608"/>
          </a:xfrm>
          <a:prstGeom prst="ellipse">
            <a:avLst/>
          </a:prstGeom>
          <a:solidFill>
            <a:srgbClr val="1A99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87552" y="3447288"/>
            <a:ext cx="320039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Operational efficiency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Calibri"/>
              </a:rPr>
              <a:t>Reviewers focus effort on the highest-risk code changes instead of giving every pull request equal scrutiny.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709159" y="1938528"/>
            <a:ext cx="3977639" cy="2331720"/>
          </a:xfrm>
          <a:prstGeom prst="roundRect">
            <a:avLst>
              <a:gd name="adj" fmla="val 6000"/>
            </a:avLst>
          </a:prstGeom>
          <a:solidFill>
            <a:srgbClr val="D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4983479" y="2121408"/>
            <a:ext cx="3428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C3678"/>
                </a:solidFill>
                <a:latin typeface="Calibri"/>
              </a:rPr>
              <a:t>For Audit &amp; Risk Committees</a:t>
            </a:r>
          </a:p>
        </p:txBody>
      </p:sp>
      <p:sp>
        <p:nvSpPr>
          <p:cNvPr id="144" name="Oval 143"/>
          <p:cNvSpPr/>
          <p:nvPr/>
        </p:nvSpPr>
        <p:spPr>
          <a:xfrm>
            <a:off x="4855464" y="2624328"/>
            <a:ext cx="292608" cy="292608"/>
          </a:xfrm>
          <a:prstGeom prst="ellipse">
            <a:avLst/>
          </a:prstGeom>
          <a:solidFill>
            <a:srgbClr val="1C3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239512" y="2624328"/>
            <a:ext cx="320039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Deficiency prioritization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Calibri"/>
              </a:rPr>
              <a:t>A PCAOB severity-prediction dashboard ranks engagements by predicted Part I.A / I.B risk, using the standard cited as the top driver.</a:t>
            </a:r>
          </a:p>
        </p:txBody>
      </p:sp>
      <p:sp>
        <p:nvSpPr>
          <p:cNvPr id="146" name="Oval 145"/>
          <p:cNvSpPr/>
          <p:nvPr/>
        </p:nvSpPr>
        <p:spPr>
          <a:xfrm>
            <a:off x="4855464" y="3447288"/>
            <a:ext cx="292608" cy="292608"/>
          </a:xfrm>
          <a:prstGeom prst="ellipse">
            <a:avLst/>
          </a:prstGeom>
          <a:solidFill>
            <a:srgbClr val="1C3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239512" y="3447288"/>
            <a:ext cx="320039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Remediation tracking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Calibri"/>
              </a:rPr>
              <a:t>Cox-based remediation-risk ranking flags slow-moving material weaknesses, even though no single hazard driver is individually significant.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57200" y="4453128"/>
            <a:ext cx="8229600" cy="502920"/>
          </a:xfrm>
          <a:prstGeom prst="roundRect">
            <a:avLst>
              <a:gd name="adj" fmla="val 50000"/>
            </a:avLst>
          </a:prstGeom>
          <a:solidFill>
            <a:srgbClr val="EB5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640080" y="4453128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Continuously updatable: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the pipeline re-scores new JIRA issues, PCAOB inspections, and SEC disclosures on a rolling basis.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142" name="Rounded Rectangle 141"/>
          <p:cNvSpPr/>
          <p:nvPr/>
        </p:nvSpPr>
        <p:spPr>
          <a:xfrm>
            <a:off x="457200" y="1920240"/>
            <a:ext cx="8229600" cy="868680"/>
          </a:xfrm>
          <a:prstGeom prst="roundRect">
            <a:avLst>
              <a:gd name="adj" fmla="val 10000"/>
            </a:avLst>
          </a:prstGeom>
          <a:solidFill>
            <a:srgbClr val="E9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31520" y="1920240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1">
                <a:solidFill>
                  <a:srgbClr val="1C3678"/>
                </a:solidFill>
                <a:latin typeface="Calibri"/>
              </a:rPr>
              <a:t>Mixed, honestly-reported answer: </a:t>
            </a:r>
            <a:r>
              <a:rPr sz="1300" b="0" i="1">
                <a:solidFill>
                  <a:srgbClr val="1A1A1A"/>
                </a:solidFill>
                <a:latin typeface="Calibri"/>
              </a:rPr>
              <a:t>no dramatic AI-era QA disruption (all effect sizes negligible); the strongest result is the PCAOB severity model; cross-domain equivalence is inconclusive.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457200" y="2990088"/>
            <a:ext cx="3977639" cy="1234440"/>
          </a:xfrm>
          <a:prstGeom prst="roundRect">
            <a:avLst>
              <a:gd name="adj" fmla="val 6000"/>
            </a:avLst>
          </a:prstGeom>
          <a:solidFill>
            <a:srgbClr val="FC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685800" y="3118104"/>
            <a:ext cx="3520439" cy="978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EB5600"/>
                </a:solidFill>
                <a:latin typeface="Calibri"/>
              </a:rPr>
              <a:t>Limitations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Severe RQ1 multicollinearity limits attribution to any single code metric; Kafka/Tika use a broader defect label than Camel/Hadoop; RQ4's N=61 sensitivity model is statistically unstable (non-significant overall F-test).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709159" y="2990088"/>
            <a:ext cx="3977639" cy="1234440"/>
          </a:xfrm>
          <a:prstGeom prst="roundRect">
            <a:avLst>
              <a:gd name="adj" fmla="val 6000"/>
            </a:avLst>
          </a:prstGeom>
          <a:solidFill>
            <a:srgbClr val="D9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4937759" y="3118104"/>
            <a:ext cx="3520439" cy="978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A9988"/>
                </a:solidFill>
                <a:latin typeface="Calibri"/>
              </a:rPr>
              <a:t>Future Work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Extend strict Bug-type labeling to Kafka/Tika for consistent labeling, grow the RQ4 sample beyond N=113, and resolve RQ2's specification-sensitive reassignment finding across model types.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57200" y="4407408"/>
            <a:ext cx="8229600" cy="502920"/>
          </a:xfrm>
          <a:prstGeom prst="roundRect">
            <a:avLst>
              <a:gd name="adj" fmla="val 50000"/>
            </a:avLst>
          </a:prstGeom>
          <a:solidFill>
            <a:srgbClr val="1C3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640080" y="4407408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Core contribution: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a reproducible pipeline that discloses and corrects its own errors — arguably as valuable as any single result.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544830" y="1191300"/>
            <a:ext cx="7688700" cy="45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Bibliography</a:t>
            </a:r>
            <a:endParaRPr dirty="0"/>
          </a:p>
        </p:txBody>
      </p:sp>
      <p:sp>
        <p:nvSpPr>
          <p:cNvPr id="147" name="Google Shape;147;p23"/>
          <p:cNvSpPr txBox="1">
            <a:spLocks noGrp="1"/>
          </p:cNvSpPr>
          <p:nvPr>
            <p:ph type="body" idx="1"/>
          </p:nvPr>
        </p:nvSpPr>
        <p:spPr>
          <a:xfrm>
            <a:off x="544830" y="1562100"/>
            <a:ext cx="8393430" cy="3141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indent="-228600">
              <a:spcBef>
                <a:spcPts val="0"/>
              </a:spcBef>
              <a:spcAft>
                <a:spcPts val="280"/>
              </a:spcAft>
              <a:buNone/>
            </a:pPr>
            <a:r>
              <a:rPr lang="en" sz="1100" dirty="0"/>
              <a:t>Ali, H. M., Hamza, M. Y., &amp; Rashid, T. A. (2024). A comprehensive study on automated testing with the software lifecycle. arXiv.</a:t>
            </a:r>
            <a:endParaRPr sz="1100" dirty="0"/>
          </a:p>
          <a:p>
            <a:pPr marL="228600" indent="-228600">
              <a:spcBef>
                <a:spcPts val="0"/>
              </a:spcBef>
              <a:spcAft>
                <a:spcPts val="280"/>
              </a:spcAft>
              <a:buNone/>
            </a:pPr>
            <a:r>
              <a:rPr lang="en" sz="1100" dirty="0"/>
              <a:t>Basyouni, A. (2025). Machine learning for risk assessment in audit and operational risk management [Preprint]. ResearchGate.</a:t>
            </a:r>
            <a:endParaRPr sz="1100" dirty="0"/>
          </a:p>
          <a:p>
            <a:pPr marL="228600" indent="-228600">
              <a:spcBef>
                <a:spcPts val="0"/>
              </a:spcBef>
              <a:spcAft>
                <a:spcPts val="280"/>
              </a:spcAft>
              <a:buNone/>
            </a:pPr>
            <a:r>
              <a:rPr lang="en" sz="1100" dirty="0"/>
              <a:t>Benjamini, Y., &amp; Hochberg, Y. (1995). Controlling the false discovery rate. Journal of the Royal Statistical Society: Series B, 57(1), 289–300.</a:t>
            </a:r>
            <a:endParaRPr sz="1100" dirty="0"/>
          </a:p>
          <a:p>
            <a:pPr marL="228600" indent="-228600">
              <a:spcBef>
                <a:spcPts val="0"/>
              </a:spcBef>
              <a:spcAft>
                <a:spcPts val="280"/>
              </a:spcAft>
              <a:buNone/>
            </a:pPr>
            <a:r>
              <a:rPr lang="en" sz="1100" dirty="0"/>
              <a:t>Cohen, J. (1988). Statistical power analysis for the behavioral sciences (2nd ed.). Lawrence Erlbaum Associates.</a:t>
            </a:r>
            <a:endParaRPr sz="1100" dirty="0"/>
          </a:p>
          <a:p>
            <a:pPr marL="228600" indent="-228600">
              <a:spcBef>
                <a:spcPts val="0"/>
              </a:spcBef>
              <a:spcAft>
                <a:spcPts val="280"/>
              </a:spcAft>
              <a:buNone/>
            </a:pPr>
            <a:r>
              <a:rPr lang="en" sz="1100" dirty="0"/>
              <a:t>Cotroneo, D., Improta, C., &amp; Liguori, P. (2025). Human-written vs. AI-generated code. arXiv.</a:t>
            </a:r>
            <a:endParaRPr sz="1100" dirty="0"/>
          </a:p>
          <a:p>
            <a:pPr marL="228600" indent="-228600">
              <a:spcBef>
                <a:spcPts val="0"/>
              </a:spcBef>
              <a:spcAft>
                <a:spcPts val="280"/>
              </a:spcAft>
              <a:buNone/>
            </a:pPr>
            <a:r>
              <a:rPr lang="en" sz="1100" dirty="0"/>
              <a:t>Donelson, D. C., Ege, M. S., &amp; McInnis, J. M. (2015). Internal control weaknesses and financial reporting fraud. Auditing: A Journal of Practice &amp; Theory, 35(3), 71–100.</a:t>
            </a:r>
            <a:endParaRPr sz="1100" dirty="0"/>
          </a:p>
          <a:p>
            <a:pPr marL="228600" indent="-228600">
              <a:spcBef>
                <a:spcPts val="0"/>
              </a:spcBef>
              <a:spcAft>
                <a:spcPts val="280"/>
              </a:spcAft>
              <a:buNone/>
            </a:pPr>
            <a:r>
              <a:rPr lang="en" sz="1100" dirty="0"/>
              <a:t>Green, S. B. (1991). How many subjects does it take to do a regression analysis? Multivariate Behavioral Research, 26(3), 499–510.</a:t>
            </a:r>
            <a:endParaRPr sz="1100" dirty="0"/>
          </a:p>
          <a:p>
            <a:pPr marL="228600" indent="-228600">
              <a:spcBef>
                <a:spcPts val="0"/>
              </a:spcBef>
              <a:spcAft>
                <a:spcPts val="280"/>
              </a:spcAft>
              <a:buNone/>
            </a:pPr>
            <a:r>
              <a:rPr lang="en" sz="1100" dirty="0"/>
              <a:t>Harding, W. (2025). AI Copilot code quality: 2025 data suggests 4x growth in code clones [White paper]. GitClear.</a:t>
            </a:r>
            <a:endParaRPr sz="1100" dirty="0"/>
          </a:p>
          <a:p>
            <a:pPr marL="228600" indent="-228600">
              <a:spcBef>
                <a:spcPts val="0"/>
              </a:spcBef>
              <a:spcAft>
                <a:spcPts val="280"/>
              </a:spcAft>
              <a:buNone/>
            </a:pPr>
            <a:r>
              <a:rPr lang="en" sz="1100" dirty="0"/>
              <a:t>Huang, B., Wei, J., Tang, Y., &amp; Liu, C. (2021). Enterprise risk assessment based on machine learning. Computational Intelligence and Neuroscience, 2021, Article 6049195.</a:t>
            </a:r>
            <a:endParaRPr sz="1100" dirty="0"/>
          </a:p>
          <a:p>
            <a:pPr marL="228600" indent="-228600">
              <a:spcBef>
                <a:spcPts val="0"/>
              </a:spcBef>
              <a:spcAft>
                <a:spcPts val="280"/>
              </a:spcAft>
              <a:buNone/>
            </a:pPr>
            <a:r>
              <a:rPr lang="en" sz="1100" dirty="0"/>
              <a:t>Ji, X., Lu, W., &amp; Qu, W. (2024). Determinants and economic consequences of voluntary disclosure of internal control weaknesses in China. Journal of Contemporary Accounting &amp; Economics, 20(1).</a:t>
            </a:r>
          </a:p>
          <a:p>
            <a:pPr marL="228600" indent="-228600">
              <a:spcAft>
                <a:spcPts val="280"/>
              </a:spcAft>
              <a:buNone/>
            </a:pPr>
            <a:r>
              <a:rPr lang="en-IN" sz="1100" dirty="0"/>
              <a:t>Li, N., Shepperd, M., &amp; Guo, Y. (2020). A systematic review of unsupervised learning techniques for software defect prediction. arXiv.</a:t>
            </a:r>
          </a:p>
          <a:p>
            <a:pPr marL="228600" indent="-228600">
              <a:spcBef>
                <a:spcPts val="0"/>
              </a:spcBef>
              <a:spcAft>
                <a:spcPts val="280"/>
              </a:spcAft>
              <a:buNone/>
            </a:pPr>
            <a:endParaRPr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411480" y="1135770"/>
            <a:ext cx="7688700" cy="443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Bibliography (cont’d)</a:t>
            </a:r>
            <a:endParaRPr dirty="0"/>
          </a:p>
        </p:txBody>
      </p:sp>
      <p:sp>
        <p:nvSpPr>
          <p:cNvPr id="147" name="Google Shape;147;p23"/>
          <p:cNvSpPr txBox="1">
            <a:spLocks noGrp="1"/>
          </p:cNvSpPr>
          <p:nvPr>
            <p:ph type="body" idx="1"/>
          </p:nvPr>
        </p:nvSpPr>
        <p:spPr>
          <a:xfrm>
            <a:off x="411480" y="1524000"/>
            <a:ext cx="8602980" cy="32080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indent="-228600">
              <a:spcAft>
                <a:spcPts val="280"/>
              </a:spcAft>
              <a:buNone/>
            </a:pPr>
            <a:r>
              <a:rPr lang="en-IN" sz="1100" dirty="0"/>
              <a:t>Mojtahedi, A., &amp; Zhou, L. (2024). IT internal control material weaknesses in financial reporting. International Journal of Accounting Information Systems, 53, Article 100679.</a:t>
            </a:r>
          </a:p>
          <a:p>
            <a:pPr marL="228600" indent="-228600">
              <a:spcBef>
                <a:spcPts val="0"/>
              </a:spcBef>
              <a:spcAft>
                <a:spcPts val="280"/>
              </a:spcAft>
              <a:buNone/>
            </a:pPr>
            <a:r>
              <a:rPr lang="en" sz="1100" dirty="0"/>
              <a:t>Peduzzi, P., Concato, J., Kemper, E., Holford, T. R., &amp; Feinstein, A. R. (1996). A simulation study of the number of events per variable in logistic regression analysis. Journal of Clinical Epidemiology, 49(12), 1373–1379.</a:t>
            </a:r>
            <a:endParaRPr sz="1100" dirty="0"/>
          </a:p>
          <a:p>
            <a:pPr marL="228600" indent="-228600">
              <a:spcBef>
                <a:spcPts val="0"/>
              </a:spcBef>
              <a:spcAft>
                <a:spcPts val="280"/>
              </a:spcAft>
              <a:buNone/>
            </a:pPr>
            <a:r>
              <a:rPr lang="en" sz="1100" dirty="0"/>
              <a:t>Public Company Accounting Oversight Board. (2017). AS 1305: Communications about control deficiencies in an audit of financial statements.</a:t>
            </a:r>
            <a:endParaRPr sz="1100" dirty="0"/>
          </a:p>
          <a:p>
            <a:pPr marL="228600" indent="-228600">
              <a:spcBef>
                <a:spcPts val="0"/>
              </a:spcBef>
              <a:spcAft>
                <a:spcPts val="280"/>
              </a:spcAft>
              <a:buNone/>
            </a:pPr>
            <a:r>
              <a:rPr lang="en" sz="1100" dirty="0"/>
              <a:t>Public Company Accounting Oversight Board. (2025). PCAOB makes available new downloadable datasets featuring PCAOB inspection findings [Press release].</a:t>
            </a:r>
            <a:endParaRPr sz="1100" dirty="0"/>
          </a:p>
          <a:p>
            <a:pPr marL="228600" indent="-228600">
              <a:spcBef>
                <a:spcPts val="0"/>
              </a:spcBef>
              <a:spcAft>
                <a:spcPts val="280"/>
              </a:spcAft>
              <a:buNone/>
            </a:pPr>
            <a:r>
              <a:rPr lang="en" sz="1100" dirty="0"/>
              <a:t>Shepperd, M., Song, Q., Sun, Z., &amp; Mair, C. (2014). Data quality: Some comments on the NASA software defect datasets. IEEE Transactions on Software Engineering, 39(9), 1208–1215.</a:t>
            </a:r>
            <a:endParaRPr sz="1100" dirty="0"/>
          </a:p>
          <a:p>
            <a:pPr marL="228600" indent="-228600">
              <a:spcBef>
                <a:spcPts val="0"/>
              </a:spcBef>
              <a:spcAft>
                <a:spcPts val="280"/>
              </a:spcAft>
              <a:buNone/>
            </a:pPr>
            <a:r>
              <a:rPr lang="en" sz="1100" dirty="0"/>
              <a:t>Stradowski, S., &amp; Madeyski, L. (2023). Industrial applications of software defect prediction using machine learning. Information and Software Technology, 159, Article 107192.</a:t>
            </a:r>
            <a:endParaRPr sz="1100" dirty="0"/>
          </a:p>
          <a:p>
            <a:pPr marL="228600" indent="-228600">
              <a:spcBef>
                <a:spcPts val="0"/>
              </a:spcBef>
              <a:spcAft>
                <a:spcPts val="280"/>
              </a:spcAft>
              <a:buNone/>
            </a:pPr>
            <a:r>
              <a:rPr lang="en" sz="1100" dirty="0"/>
              <a:t>Tantithamthavorn, C. (n.d.). NASADefectDataset [Data set]. GitHub.</a:t>
            </a:r>
            <a:endParaRPr sz="1100" dirty="0"/>
          </a:p>
          <a:p>
            <a:pPr marL="228600" indent="-228600">
              <a:spcBef>
                <a:spcPts val="0"/>
              </a:spcBef>
              <a:spcAft>
                <a:spcPts val="280"/>
              </a:spcAft>
              <a:buNone/>
            </a:pPr>
            <a:r>
              <a:rPr lang="en" sz="1100" dirty="0"/>
              <a:t>Wang, Y., Mantyla, M. V., Liu, Z., &amp; Markkula, J. (2022). Test automation maturity improves product quality. Journal of Systems and Software, 188, Article 111259.</a:t>
            </a:r>
            <a:endParaRPr sz="1100" dirty="0"/>
          </a:p>
          <a:p>
            <a:pPr marL="228600" indent="-228600">
              <a:spcBef>
                <a:spcPts val="0"/>
              </a:spcBef>
              <a:spcAft>
                <a:spcPts val="280"/>
              </a:spcAft>
              <a:buNone/>
            </a:pPr>
            <a:r>
              <a:rPr lang="en" sz="1100" dirty="0"/>
              <a:t>Yang, L. (2025). Predictive modeling of tax compliance risks. PLOS ONE, 20(9), Article e0331715.</a:t>
            </a:r>
            <a:endParaRPr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1872</TotalTime>
  <Words>1634</Words>
  <Application>Microsoft Office PowerPoint</Application>
  <PresentationFormat>On-screen Show (16:9)</PresentationFormat>
  <Paragraphs>129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Raleway</vt:lpstr>
      <vt:lpstr>Times New Roman</vt:lpstr>
      <vt:lpstr>Calibri</vt:lpstr>
      <vt:lpstr>Arial</vt:lpstr>
      <vt:lpstr>Lato</vt:lpstr>
      <vt:lpstr>Streamline</vt:lpstr>
      <vt:lpstr>Data-Driven Quality and Risk Analytics: Governance-Relevant Change in the AI-Coding Era and PCAOB Audit Risk Data</vt:lpstr>
      <vt:lpstr>Executive Summary</vt:lpstr>
      <vt:lpstr>Gap Analysis</vt:lpstr>
      <vt:lpstr>Research Questions</vt:lpstr>
      <vt:lpstr>Data Description and EDA</vt:lpstr>
      <vt:lpstr>Architecture diagram/Workflow</vt:lpstr>
      <vt:lpstr>Model building</vt:lpstr>
      <vt:lpstr>Results</vt:lpstr>
      <vt:lpstr>Implementation and User Benefit</vt:lpstr>
      <vt:lpstr>Conclusion</vt:lpstr>
      <vt:lpstr>Bibliography</vt:lpstr>
      <vt:lpstr>Bibliography (cont’d)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Daljeet</dc:creator>
  <cp:lastModifiedBy>Daljeet Johar</cp:lastModifiedBy>
  <cp:revision>2</cp:revision>
  <dcterms:modified xsi:type="dcterms:W3CDTF">2026-09-05T12:19:20Z</dcterms:modified>
</cp:coreProperties>
</file>